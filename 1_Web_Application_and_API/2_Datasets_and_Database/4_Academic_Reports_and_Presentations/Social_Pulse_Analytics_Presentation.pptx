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biradar" userId="2954fcccc211fedf" providerId="LiveId" clId="{B68F4E0F-D2BD-4659-95A6-C85258585094}"/>
    <pc:docChg chg="undo custSel modSld">
      <pc:chgData name="ramesh biradar" userId="2954fcccc211fedf" providerId="LiveId" clId="{B68F4E0F-D2BD-4659-95A6-C85258585094}" dt="2026-09-07T14:06:08.339" v="5" actId="1076"/>
      <pc:docMkLst>
        <pc:docMk/>
      </pc:docMkLst>
      <pc:sldChg chg="modSp mod">
        <pc:chgData name="ramesh biradar" userId="2954fcccc211fedf" providerId="LiveId" clId="{B68F4E0F-D2BD-4659-95A6-C85258585094}" dt="2026-09-07T14:06:08.339" v="5" actId="1076"/>
        <pc:sldMkLst>
          <pc:docMk/>
          <pc:sldMk cId="0" sldId="257"/>
        </pc:sldMkLst>
        <pc:spChg chg="mod">
          <ac:chgData name="ramesh biradar" userId="2954fcccc211fedf" providerId="LiveId" clId="{B68F4E0F-D2BD-4659-95A6-C85258585094}" dt="2026-09-07T14:06:08.339" v="5" actId="1076"/>
          <ac:spMkLst>
            <pc:docMk/>
            <pc:sldMk cId="0" sldId="257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STATISTICS FOR MACHINE LEARNING • INTERACTIVE WEB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SOCIAL PULSE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Interactive Exploratory Data Analysis, Statistical Modeling &amp; Predictive Simulation Platform</a:t>
            </a:r>
            <a:br/>
            <a:r>
              <a:t>Hosted Live at: https://sharnu2009.pythonanywhere.com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383280" cy="40233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30175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Core Dataset</a:t>
            </a:r>
          </a:p>
          <a:p>
            <a:pPr>
              <a:defRPr sz="1300">
                <a:solidFill>
                  <a:srgbClr val="E5E7EB"/>
                </a:solidFill>
              </a:defRPr>
            </a:pPr>
            <a:r>
              <a:t>600 Active Users across 6 Major Platforms (Instagram, TikTok, YouTube, Twitter/X, LinkedIn, Facebook) with 16 Demographics &amp; Activity Attributes.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3750" y="2194560"/>
            <a:ext cx="3383280" cy="40233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86630" y="2377440"/>
            <a:ext cx="3017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663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0B981"/>
                </a:solidFill>
              </a:defRPr>
            </a:pPr>
            <a:r>
              <a:t>Statistical Engine</a:t>
            </a:r>
          </a:p>
          <a:p>
            <a:pPr>
              <a:defRPr sz="1300">
                <a:solidFill>
                  <a:srgbClr val="E5E7EB"/>
                </a:solidFill>
              </a:defRPr>
            </a:pPr>
            <a:r>
              <a:t>Powered by Python (SciPy &amp; NumPy): Parametric Testing, Welch's t-Test, One-Way ANOVA, and Ordinary Least Squares (OLS) Linear Regression.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5980" y="2194560"/>
            <a:ext cx="3383280" cy="40233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58860" y="2377440"/>
            <a:ext cx="30175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8860" y="25603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366F1"/>
                </a:solidFill>
              </a:defRPr>
            </a:pPr>
            <a:r>
              <a:t>Pedagogical Mission</a:t>
            </a:r>
          </a:p>
          <a:p>
            <a:pPr>
              <a:defRPr sz="1300">
                <a:solidFill>
                  <a:srgbClr val="E5E7EB"/>
                </a:solidFill>
              </a:defRPr>
            </a:pPr>
            <a:r>
              <a:t>A zero-code interactive visual laboratory bridging abstract statistical formulas with real-world Machine Learning intuition.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1 of 12 • https://sharnu2009.pythonanywhere.com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SECTION 1 • OVERVIEW &amp;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What is Social Pulse Analytics?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A complete flight simulator for data science students to explore math concepts with zero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The Problem with Traditional Stats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Static textbook equations (mean, skewness, regression) feel dry and abstract when disconnected from real machine learning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The Interactive Solution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A live web dashboard where students click, slide, and test hypotheses in real time using 600 social media creator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The Three Pillars Taught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1. Descriptive Stats &amp; Data Shapes</a:t>
            </a:r>
            <a:br/>
            <a:r>
              <a:t>2. Linear &amp; Multiple OLS Regression</a:t>
            </a:r>
            <a:br/>
            <a:r>
              <a:t>3. Inferential Testing &amp; Outlier Cleaning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Zero-Code to Code Bridge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Builds graphical intuition before students write a single line of pandas, scikit-learn, or SQL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2 of 12 • https://sharnu2009.pythonanywhere.com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TAB 1 •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 1: Executive Overview (The Scoreboard)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First contact with the dataset: Key Performance Indicators (KPIs) and aggregate distributions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Average Screen Time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3.75 hrs/day (Median: 3.41 hrs). Health breakdown reveals 55% moderate usage (2.5-5h) and 19% heavy screen time (&gt;5h).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Mean vs. Median Gap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Avg Likes: 194.2 vs. Median Likes: 80.0</a:t>
            </a:r>
            <a:br/>
            <a:r>
              <a:t>Avg Followers: 4,622 vs. Median: 1,140</a:t>
            </a:r>
            <a:br/>
            <a:r>
              <a:t>First clear proof of viral power-law skewness!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Platform Distribution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Instagram leads at 31.2%, followed by TikTok (24.5%), Twitter/X (17.2%), YouTube (13.5%), LinkedIn (7.3%), and Facebook (6.3%).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Content Format Impact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Reels/Videos command highest engagement (9.53%), followed by Carousels (8.33%), Photos (6.79%), and Text (5.23%).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3 of 12 • https://sharnu2009.pythonanywhere.com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TAB 2 • DISTRIBUTION MOMENTS &amp;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 2: Descriptive Statistics &amp; Data Shapes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Measuring Central Tendency, Dispersion, and Higher-Order Moments (Skewness &amp; Kurtosis)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Measures of Center &amp; Spread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Calculates Mean (μ), Median (Q2), Mode, Std Dev (σ), Variance (σ²), and Interquartile Range (IQR).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Skewness (Tail Direction)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Followers (+8.17) and Likes (+4.77) exhibit extreme positive right-skew: massive volume of casual users, tiny elite of viral stars.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Kurtosis (Tails &amp; Outliers)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Followers kurtosis is +97.0 (Leptokurtic). Demonstrates heavy-tailed, power-law distributions to students.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Why It Matters for ML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Teaches why algorithms fail on raw data and why Log Transforms [log(1+x)] are mandatory before training models.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4 of 12 • https://sharnu2009.pythonanywhere.com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TAB 3 • FEATURE RELATIONSHIPS &amp; COLLINEARITY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 3: Correlation Matrix (Pearson vs. Spearman)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Discovering which features move together, and detecting redundancy before feeding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Likes &lt;-&gt; Followers (r = +0.88)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Very strong positive linear relationship. Accounts with high followers consistently capture higher like volumes.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Followers &lt;-&gt; Engagement (r = -0.31)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Crucial negative correlation! As follower count balloons, community engagement % drops significantly.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Pearson vs. Spearman Toggle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Pearson measures straight-line trends; Spearman measures rank-order monotonicity (Spearman ρ = -0.51 for Followers vs Engagement).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Interactive Scatter Plot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Students can pick any X and Y axis to see real-time data points, OLS trendline, R², and p-values.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5 of 12 • https://sharnu2009.pythonanywhere.com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TAB 4 • SUPERVISED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 4: Regression Models (OLS in Action)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Fitting mathematical prediction lines: Simple Linear Regression and Multiple 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Model A: Screen Time -&gt; Likes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Formula: Likes = 9.20(ScreenTime) + 159.67</a:t>
            </a:r>
            <a:br/>
            <a:r>
              <a:t>R² = 0.0024 (Fails!). Simply consuming more screen time has zero predictive power over creative success.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Model B: Posts -&gt; Followers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Formula: Followers = 651.81(Posts) + 1019.95</a:t>
            </a:r>
            <a:br/>
            <a:r>
              <a:t>R² = 0.1582. Each additional weekly post yields an expected gain of ~652 followers.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Model C: Multiple Regression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Engagement = 9.14 - 0.012(ST) - 0.124(Posts) - 0.00007(Followers)</a:t>
            </a:r>
            <a:br/>
            <a:r>
              <a:t>Multiple R² = 0.1389 | Adjusted R² = 0.1346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Classroom Lesson: Adjusted R²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Demonstrates why Adjusted R² penalizes adding useless predictors, preventing model overfitting.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6 of 12 • https://sharnu2009.pythonanywhere.com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TAB 5 • WHAT-IF INFERENCE &amp; PRODUCTION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 5: Predictive Simulator (The 'What-If' Engine)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Deploying the trained statistical model into an interactive scenario testing simulator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Input Sliders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Students adjust: Daily Screen Time (0.5 - 12h), Weekly Posts (0 - 30), and Current Followers (100 - 100k+).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Instant Mathematical Inference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Feeds inputs into the regression weights to output: Expected Likes, Engagement Rate %, and Monthly Growth.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6-Month Follower Forecasting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Dynamically plots compounded growth curves: y_t = y_0 * (1 + g)^t over 6 consecutive months.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Digital Wellbeing Feedback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Alerts users if high screen time exceeds productivity thresholds, recommending optimal creator schedules.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7 of 12 • https://sharnu2009.pythonanywhere.com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TAB 6 • INFERENTIAL STATISTICS (p-values &amp; α = 0.05)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 6: Hypothesis Testing (Real Facts vs. Luck)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Teaching parametric tests, null hypotheses (H₀), and significance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Weekend vs. Weekday Screen Time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Paired t-Test: t = 36.74, p &lt; 0.0001 (Reject H₀)</a:t>
            </a:r>
            <a:br/>
            <a:r>
              <a:t>Weekend screen time is significantly higher by +0.77 hours. Overwhelming statistical evidence!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Screen Time vs. Engagement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Welch's Two-Sample t-Test: t = -0.595, p = 0.552 (Fail to Reject H₀)</a:t>
            </a:r>
            <a:br/>
            <a:r>
              <a:t>High screen time does NOT significantly alter audience engagement.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Post Format Differences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One-Way ANOVA: F = 27.10, p &lt; 0.001 (Reject H₀)</a:t>
            </a:r>
            <a:br/>
            <a:r>
              <a:t>Proves content format significantly drives engagement (Videos &gt; Carousels &gt; Photos &gt; Text).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Platform Screen Time Differences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One-Way ANOVA: F = 11.83, p &lt; 0.001 (Reject H₀)</a:t>
            </a:r>
            <a:br/>
            <a:r>
              <a:t>TikTok &amp; Instagram command statistically higher daily screen times than LinkedIn.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8 of 12 • https://sharnu2009.pythonanywhere.com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TAB 6 (PART 2) • DATA QUALITY &amp;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 6: Anomaly &amp; Outlier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Comparing Parametric (Z-Score) vs. Non-Parametric (Tukey IQR Fences)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The Outlier Problem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Social media datasets contain viral influencers, bots, and extreme users that distort ML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Tukey's IQR Fence Method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Bounds: [Q1 - 1.5*IQR, Q3 + 1.5*IQR]</a:t>
            </a:r>
            <a:br/>
            <a:r>
              <a:t>Flags 116 post frequency outliers and 79 follower outliers without assuming normal distribution.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Parametric Z-Score (|Z| &gt; 2.5)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Flags only 19 post outliers. Why? Because extreme values inflate the sample standard deviation (σ), masking anomalies!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Machine Learning Takeaway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Demonstrates why robust statistics (IQR, Median Absolute Deviation) are essential for data cleaning.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9 of 12 • https://sharnu2009.pythonanywhere.com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TABS 7 &amp; 8 • SEGMENTATION &amp; DATA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Tabs 7 &amp; 8: Personas &amp; Live Data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Unsupervised segmentation concepts and raw spreadsheet inspection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User Behavioral Personas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5 Rule-Based Clusters: High-Impact Influencers (54), Active Creators (114), Passive Lurkers (88), Casual (140), Minimalists (17).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Platform Characteristic Radar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Normalizes 5 dimensions on 0-100 scale: visualizes centroids across Screen Time, Posts, Likes, and Engagement.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Live Data Studio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Full interactive table with real-time text search, platform filtering, and pagination over all 600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Upload CSV &amp; Generate Data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Allows students to upload custom datasets or generate N = 300 to 2,500 rows to observe sample size effects.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10 of 12 • https://sharnu2009.pythonanywhere.com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EDUCATIONAL APPLICATION • CURRICULUM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Teachers Can Use This Website in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Hands-on lab exercises and student discussion prompts for Statistics &amp; Machine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Lab 1: The Mean vs. Median Trap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Ask students to inspect Tab 2 and explain why Average Likes is 194 but Median is 80. How would an ML model be affected?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Lab 2: Spurious vs. True Correlations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Have students compare Screen Time vs Likes (r = 0.05) against Posts vs Likes (r = 0.48) in Tab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Lab 3: Regression Interpretation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Analyze the Multiple Regression beta coefficients in Tab 4. Why is the follower weight negative for engagement?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Lab 4: Sample Scaling (Central Limit)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Use 'Generate Data' (Tab 8) to scale from N=300 to N=2500 and observe how p-values sharpen.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11 of 12 • https://sharnu2009.pythonanywhere.com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ACCESS • PROJECT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 &amp; Available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Everything is deployed live on the cloud and ready in your local SQL project workspace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Live Cloud Application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Web URL: https://sharnu2009.pythonanywhere.com</a:t>
            </a:r>
            <a:br/>
            <a:r>
              <a:t>Active 24/7 with zero local computer setup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19456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5255" y="2331720"/>
            <a:ext cx="73152" cy="1691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8135" y="233172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SQLite Database File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social_media_analytics.db</a:t>
            </a:r>
            <a:br/>
            <a:r>
              <a:t>600 rows ready for instant SQL queries in DB Browser or VS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73152" cy="1691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Complete SQL Dump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social_media_database.sql</a:t>
            </a:r>
            <a:br/>
            <a:r>
              <a:t>Full CREATE TABLE and 600 INSERT statements for MySQL, Postgres, SQLite.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343400"/>
            <a:ext cx="5212080" cy="1965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5255" y="4480560"/>
            <a:ext cx="73152" cy="1691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8135" y="448056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Raw CSV Dataset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social_media_data.csv</a:t>
            </a:r>
            <a:br/>
            <a:r>
              <a:t>16 attributes, clean UTF-8 dataset for pandas and Excel labs.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Social Pulse Analytics • Slide 12 of 12 • https://sharnu2009.pythonanywhere.com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1841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ramesh biradar</cp:lastModifiedBy>
  <cp:revision>1</cp:revision>
  <dcterms:created xsi:type="dcterms:W3CDTF">2013-01-27T09:14:16Z</dcterms:created>
  <dcterms:modified xsi:type="dcterms:W3CDTF">2026-09-07T14:06:15Z</dcterms:modified>
  <cp:category/>
</cp:coreProperties>
</file>